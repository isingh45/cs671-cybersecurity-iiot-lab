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Urbanist Medium"/>
      <p:regular r:id="rId10"/>
      <p:bold r:id="rId11"/>
      <p:italic r:id="rId12"/>
      <p:boldItalic r:id="rId13"/>
    </p:embeddedFont>
    <p:embeddedFont>
      <p:font typeface="Urbanis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rbanistMedium-bold.fntdata"/><Relationship Id="rId10" Type="http://schemas.openxmlformats.org/officeDocument/2006/relationships/font" Target="fonts/UrbanistMedium-regular.fntdata"/><Relationship Id="rId13" Type="http://schemas.openxmlformats.org/officeDocument/2006/relationships/font" Target="fonts/UrbanistMedium-boldItalic.fntdata"/><Relationship Id="rId12" Type="http://schemas.openxmlformats.org/officeDocument/2006/relationships/font" Target="fonts/Urbanist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-bold.fntdata"/><Relationship Id="rId14" Type="http://schemas.openxmlformats.org/officeDocument/2006/relationships/font" Target="fonts/Urbanist-regular.fntdata"/><Relationship Id="rId17" Type="http://schemas.openxmlformats.org/officeDocument/2006/relationships/font" Target="fonts/Urbanist-boldItalic.fntdata"/><Relationship Id="rId16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6fe9209af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6fe9209a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091779"/>
            <a:ext cx="9001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Secure IIoT Virtual Lab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074650"/>
            <a:ext cx="900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virtual environment for simulating industrial communication and cybersecurity testing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73850" y="4246975"/>
            <a:ext cx="8073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Team Members:</a:t>
            </a:r>
            <a:endParaRPr b="1" sz="15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Sukhpinder — Infrastructure &amp; Protocol</a:t>
            </a:r>
            <a:endParaRPr b="1" sz="15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Inderpal — Security (Attack Simulation)</a:t>
            </a:r>
            <a:endParaRPr b="1" sz="15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Jesse — Defense (IDS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857250" y="2133600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57250" y="3238500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57250" y="4038600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Infrastructure &amp; Protocol (Normal Operation) 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432000" y="1228500"/>
            <a:ext cx="57780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400"/>
              <a:buFont typeface="Urbanist"/>
              <a:buChar char="●"/>
            </a:pPr>
            <a:r>
              <a:rPr lang="en-US" sz="2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Ran environment on Ubuntu (WSL2)</a:t>
            </a:r>
            <a:endParaRPr sz="2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400"/>
              <a:buFont typeface="Urbanist"/>
              <a:buChar char="●"/>
            </a:pPr>
            <a:r>
              <a:rPr lang="en-US" sz="2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Built IIoT network using Containernet (Mininet + Docker)</a:t>
            </a:r>
            <a:endParaRPr sz="2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400"/>
              <a:buFont typeface="Urbanist"/>
              <a:buChar char="●"/>
            </a:pPr>
            <a:r>
              <a:rPr lang="en-US" sz="2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Created network topology with:</a:t>
            </a:r>
            <a:endParaRPr sz="2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400"/>
              <a:buFont typeface="Urbanist"/>
              <a:buChar char="○"/>
            </a:pPr>
            <a:r>
              <a:rPr lang="en-US" sz="2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Sensor → 10.0.0.1</a:t>
            </a:r>
            <a:endParaRPr sz="2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400"/>
              <a:buFont typeface="Urbanist"/>
              <a:buChar char="○"/>
            </a:pPr>
            <a:r>
              <a:rPr lang="en-US" sz="2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Gateway → 10.0.0.2</a:t>
            </a:r>
            <a:endParaRPr sz="2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400"/>
              <a:buFont typeface="Urbanist"/>
              <a:buChar char="○"/>
            </a:pPr>
            <a:r>
              <a:rPr lang="en-US" sz="2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Attacker → 10.0.0.3</a:t>
            </a:r>
            <a:endParaRPr sz="2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400"/>
              <a:buFont typeface="Urbanist"/>
              <a:buChar char="●"/>
            </a:pPr>
            <a:r>
              <a:rPr lang="en-US" sz="2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Sensor acts as Modbus Client</a:t>
            </a:r>
            <a:endParaRPr sz="2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400"/>
              <a:buFont typeface="Urbanist"/>
              <a:buChar char="●"/>
            </a:pPr>
            <a:r>
              <a:rPr lang="en-US" sz="2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Gateway acts as Modbus Server</a:t>
            </a:r>
            <a:endParaRPr sz="2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400"/>
              <a:buFont typeface="Urbanist"/>
              <a:buChar char="●"/>
            </a:pPr>
            <a:r>
              <a:rPr lang="en-US" sz="2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Normal traffic: Sensor → Gateway (Modbus/TCP)</a:t>
            </a:r>
            <a:endParaRPr sz="2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98" name="Google Shape;98;p14"/>
          <p:cNvPicPr preferRelativeResize="0"/>
          <p:nvPr/>
        </p:nvPicPr>
        <p:blipFill rotWithShape="1">
          <a:blip r:embed="rId4">
            <a:alphaModFix/>
          </a:blip>
          <a:srcRect b="0" l="1468" r="0" t="0"/>
          <a:stretch/>
        </p:blipFill>
        <p:spPr>
          <a:xfrm>
            <a:off x="6885000" y="1228500"/>
            <a:ext cx="4802100" cy="51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00" y="47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571500"/>
            <a:ext cx="5200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Security — Attack Simulation &amp; Analysis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3890962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8000" y="1836000"/>
            <a:ext cx="5936100" cy="43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400"/>
              <a:buFont typeface="Urbanist"/>
              <a:buChar char="●"/>
            </a:pPr>
            <a:r>
              <a:rPr lang="en-US" sz="2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Used attacker node (10.0.0.3)</a:t>
            </a:r>
            <a:endParaRPr sz="2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400"/>
              <a:buFont typeface="Urbanist"/>
              <a:buChar char="●"/>
            </a:pPr>
            <a:r>
              <a:rPr lang="en-US" sz="2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Generated traffic using Scapy (Python)</a:t>
            </a:r>
            <a:endParaRPr sz="2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400"/>
              <a:buFont typeface="Urbanist"/>
              <a:buChar char="●"/>
            </a:pPr>
            <a:r>
              <a:rPr lang="en-US" sz="2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Sent repeated TCP SYN packets to port 502 (Modbus)</a:t>
            </a:r>
            <a:endParaRPr sz="2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400"/>
              <a:buFont typeface="Urbanist"/>
              <a:buChar char="●"/>
            </a:pPr>
            <a:r>
              <a:rPr lang="en-US" sz="2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Captured traffic using tcpdump (.pcap)</a:t>
            </a:r>
            <a:endParaRPr sz="2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400"/>
              <a:buFont typeface="Urbanist"/>
              <a:buChar char="●"/>
            </a:pPr>
            <a:r>
              <a:rPr lang="en-US" sz="2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Analyzed traffic in Wireshark</a:t>
            </a:r>
            <a:endParaRPr sz="2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400"/>
              <a:buFont typeface="Urbanist"/>
              <a:buChar char="●"/>
            </a:pPr>
            <a:r>
              <a:rPr lang="en-US" sz="2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Normal: request → response</a:t>
            </a:r>
            <a:endParaRPr sz="2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400"/>
              <a:buFont typeface="Urbanist"/>
              <a:buChar char="●"/>
            </a:pPr>
            <a:r>
              <a:rPr lang="en-US" sz="2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Attack: repeated SYN, no response</a:t>
            </a:r>
            <a:endParaRPr sz="2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400"/>
              <a:buFont typeface="Urbanist"/>
              <a:buChar char="●"/>
            </a:pPr>
            <a:r>
              <a:rPr lang="en-US" sz="2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Result: TCP retransmissions indicate abnormal </a:t>
            </a:r>
            <a:r>
              <a:rPr lang="en-US" sz="2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behavior</a:t>
            </a:r>
            <a:r>
              <a:rPr lang="en-US" sz="2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24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07" name="Google Shape;10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9850" y="1836000"/>
            <a:ext cx="5753526" cy="26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355900" y="301150"/>
            <a:ext cx="111153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Defense — Intrusion Detection (IDS)</a:t>
            </a:r>
            <a:endParaRPr b="1" sz="36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355900" y="1204600"/>
            <a:ext cx="2632200" cy="54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DAFFDE"/>
                </a:solidFill>
                <a:latin typeface="Calibri"/>
                <a:ea typeface="Calibri"/>
                <a:cs typeface="Calibri"/>
                <a:sym typeface="Calibri"/>
              </a:rPr>
              <a:t>Developed IDS to detect abnormal traffic patterns</a:t>
            </a:r>
            <a:endParaRPr sz="1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DAFFDE"/>
                </a:solidFill>
                <a:latin typeface="Calibri"/>
                <a:ea typeface="Calibri"/>
                <a:cs typeface="Calibri"/>
                <a:sym typeface="Calibri"/>
              </a:rPr>
              <a:t>Analyzed PCAP data from attack simulation</a:t>
            </a:r>
            <a:endParaRPr sz="1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DAFFDE"/>
                </a:solidFill>
                <a:latin typeface="Calibri"/>
                <a:ea typeface="Calibri"/>
                <a:cs typeface="Calibri"/>
                <a:sym typeface="Calibri"/>
              </a:rPr>
              <a:t>Defense-in-Depth approach. Real-world Intrusion Detection Systems (like Suricata or Snort) rarely rely on just one metric.</a:t>
            </a:r>
            <a:endParaRPr sz="1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DAFFDE"/>
                </a:solidFill>
                <a:latin typeface="Calibri"/>
                <a:ea typeface="Calibri"/>
                <a:cs typeface="Calibri"/>
                <a:sym typeface="Calibri"/>
              </a:rPr>
              <a:t>Deep Packet Inspection (payload signatures)</a:t>
            </a:r>
            <a:endParaRPr sz="1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DAFFDE"/>
                </a:solidFill>
                <a:latin typeface="Calibri"/>
                <a:ea typeface="Calibri"/>
                <a:cs typeface="Calibri"/>
                <a:sym typeface="Calibri"/>
              </a:rPr>
              <a:t>Metadata Analysis (packet sizes)</a:t>
            </a:r>
            <a:endParaRPr sz="1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DAFFDE"/>
                </a:solidFill>
                <a:latin typeface="Calibri"/>
                <a:ea typeface="Calibri"/>
                <a:cs typeface="Calibri"/>
                <a:sym typeface="Calibri"/>
              </a:rPr>
              <a:t>Stateful Heuristics (traffic patterns)</a:t>
            </a:r>
            <a:endParaRPr sz="1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DAFFDE"/>
                </a:solidFill>
                <a:latin typeface="Calibri"/>
                <a:ea typeface="Calibri"/>
                <a:cs typeface="Calibri"/>
                <a:sym typeface="Calibri"/>
              </a:rPr>
              <a:t>Encryption resistant</a:t>
            </a:r>
            <a:endParaRPr sz="1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6" title="Screenshot 2026-05-03 at 4.20.1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8100" y="1499500"/>
            <a:ext cx="2632200" cy="385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8839075" y="1204600"/>
            <a:ext cx="2632200" cy="54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DAFFDE"/>
                </a:solidFill>
                <a:latin typeface="Calibri"/>
                <a:ea typeface="Calibri"/>
                <a:cs typeface="Calibri"/>
                <a:sym typeface="Calibri"/>
              </a:rPr>
              <a:t>SECURE</a:t>
            </a:r>
            <a:endParaRPr sz="1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DAFFDE"/>
                </a:solidFill>
                <a:latin typeface="Calibri"/>
                <a:ea typeface="Calibri"/>
                <a:cs typeface="Calibri"/>
                <a:sym typeface="Calibri"/>
              </a:rPr>
              <a:t>No attack detected </a:t>
            </a:r>
            <a:endParaRPr sz="1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DAFFDE"/>
                </a:solidFill>
                <a:latin typeface="Calibri"/>
                <a:ea typeface="Calibri"/>
                <a:cs typeface="Calibri"/>
                <a:sym typeface="Calibri"/>
              </a:rPr>
              <a:t>System traffic appears normal</a:t>
            </a:r>
            <a:endParaRPr sz="1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DAFFDE"/>
                </a:solidFill>
                <a:latin typeface="Calibri"/>
                <a:ea typeface="Calibri"/>
                <a:cs typeface="Calibri"/>
                <a:sym typeface="Calibri"/>
              </a:rPr>
              <a:t>ALERT!</a:t>
            </a:r>
            <a:endParaRPr sz="1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DAFFDE"/>
                </a:solidFill>
                <a:latin typeface="Calibri"/>
                <a:ea typeface="Calibri"/>
                <a:cs typeface="Calibri"/>
                <a:sym typeface="Calibri"/>
              </a:rPr>
              <a:t>Attack detected</a:t>
            </a:r>
            <a:endParaRPr sz="1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DAFFDE"/>
                </a:solidFill>
                <a:latin typeface="Calibri"/>
                <a:ea typeface="Calibri"/>
                <a:cs typeface="Calibri"/>
                <a:sym typeface="Calibri"/>
              </a:rPr>
              <a:t>Payload signatures match known attacks</a:t>
            </a:r>
            <a:endParaRPr sz="1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DAFFDE"/>
                </a:solidFill>
                <a:latin typeface="Calibri"/>
                <a:ea typeface="Calibri"/>
                <a:cs typeface="Calibri"/>
                <a:sym typeface="Calibri"/>
              </a:rPr>
              <a:t>Packet sizes are anomalous - below threshold</a:t>
            </a:r>
            <a:endParaRPr sz="1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DAFFDE"/>
                </a:solidFill>
                <a:latin typeface="Calibri"/>
                <a:ea typeface="Calibri"/>
                <a:cs typeface="Calibri"/>
                <a:sym typeface="Calibri"/>
              </a:rPr>
              <a:t>Traffic patterns are anomalous - repeated packets of the same length.</a:t>
            </a:r>
            <a:endParaRPr sz="1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6" title="Screenshot 2026-05-03 at 4.23.2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0301" y="1499500"/>
            <a:ext cx="3218776" cy="560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title="Screenshot 2026-05-03 at 4.23.50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0300" y="3429000"/>
            <a:ext cx="3218774" cy="828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